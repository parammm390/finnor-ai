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eeb2dfc2543ce" /><Relationship Type="http://schemas.openxmlformats.org/officeDocument/2006/relationships/extended-properties" Target="/docProps/app.xml" Id="Rd41ba22c898b406d" /><Relationship Type="http://schemas.openxmlformats.org/officeDocument/2006/relationships/officeDocument" Target="/ppt/presentation.xml" Id="R441e53d886b8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d45015a9b34815"/>
  </p:sldMasterIdLst>
  <p:notesMasterIdLst>
    <p:notesMasterId xmlns:r="http://schemas.openxmlformats.org/officeDocument/2006/relationships" r:id="R66ad240f23d144da"/>
  </p:notesMasterIdLst>
  <p:sldIdLst>
    <p:sldId xmlns:r="http://schemas.openxmlformats.org/officeDocument/2006/relationships" id="256" r:id="R9c81e3623543484d"/>
    <p:sldId xmlns:r="http://schemas.openxmlformats.org/officeDocument/2006/relationships" id="257" r:id="R0c5d6ff847944131"/>
    <p:sldId xmlns:r="http://schemas.openxmlformats.org/officeDocument/2006/relationships" id="258" r:id="Rd949dc83dfe74c79"/>
    <p:sldId xmlns:r="http://schemas.openxmlformats.org/officeDocument/2006/relationships" id="259" r:id="R87d5dab7d4384b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d8322ac584e37" /><Relationship Type="http://schemas.openxmlformats.org/officeDocument/2006/relationships/slideMaster" Target="/ppt/slideMasters/slideMaster1.xml" Id="Rccd45015a9b34815" /><Relationship Type="http://schemas.openxmlformats.org/officeDocument/2006/relationships/notesMaster" Target="/ppt/notesMasters/notesMaster1.xml" Id="R66ad240f23d144da" /><Relationship Type="http://schemas.openxmlformats.org/officeDocument/2006/relationships/presProps" Target="/ppt/presProps.xml" Id="R3e8fffbb7dab43d1" /><Relationship Type="http://schemas.openxmlformats.org/officeDocument/2006/relationships/tableStyles" Target="/ppt/tableStyles.xml" Id="R73eac619763f4210" /><Relationship Type="http://schemas.openxmlformats.org/officeDocument/2006/relationships/slide" Target="/ppt/slides/slide1.xml" Id="R9c81e3623543484d" /><Relationship Type="http://schemas.openxmlformats.org/officeDocument/2006/relationships/slide" Target="/ppt/slides/slide2.xml" Id="R0c5d6ff847944131" /><Relationship Type="http://schemas.openxmlformats.org/officeDocument/2006/relationships/slide" Target="/ppt/slides/slide3.xml" Id="Rd949dc83dfe74c79" /><Relationship Type="http://schemas.openxmlformats.org/officeDocument/2006/relationships/slide" Target="/ppt/slides/slide4.xml" Id="R87d5dab7d4384b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12bb75cbd74b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40051c7966410e" /><Relationship Type="http://schemas.openxmlformats.org/officeDocument/2006/relationships/notesMaster" Target="/ppt/notesMasters/notesMaster1.xml" Id="Rf33ed0d68b6d46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80756333e457d" /><Relationship Type="http://schemas.openxmlformats.org/officeDocument/2006/relationships/notesMaster" Target="/ppt/notesMasters/notesMaster1.xml" Id="Rfc88068cc490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8b3b0d3d4413c" /><Relationship Type="http://schemas.openxmlformats.org/officeDocument/2006/relationships/notesMaster" Target="/ppt/notesMasters/notesMaster1.xml" Id="Rb6e326e81d124e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021b9651f04b10" /><Relationship Type="http://schemas.openxmlformats.org/officeDocument/2006/relationships/notesMaster" Target="/ppt/notesMasters/notesMaster1.xml" Id="Radb6de965e36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Synthetic, non-confidential data created only for Artifact OS deterministic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contains synthetic assumptions only. It is designed to exercise stable shape IDs and editable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values reconcile to the synthetic LBO workbook fixture. Native chart data remains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risk statements are deliberately framed as missing information or assumptions; no diligence conclusion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c409c902641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d6162c8b854c8d" /><Relationship Type="http://schemas.openxmlformats.org/officeDocument/2006/relationships/slideLayout" Target="/ppt/slideLayouts/slideLayout1.xml" Id="R1e0b5c50538c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b5c50538c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78d2ab0774d27" /><Relationship Type="http://schemas.openxmlformats.org/officeDocument/2006/relationships/notesSlide" Target="/ppt/notesSlides/notesSlide1.xml" Id="R209b1e5d076a44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b0d7a78304fe0" /><Relationship Type="http://schemas.openxmlformats.org/officeDocument/2006/relationships/notesSlide" Target="/ppt/notesSlides/notesSlide2.xml" Id="R9e3dadab972743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7c1009aa24b33" /><Relationship Type="http://schemas.openxmlformats.org/officeDocument/2006/relationships/chart" Target="/ppt/slides/charts/chart1.xml" Id="R6128b70a0b524a94" /><Relationship Type="http://schemas.openxmlformats.org/officeDocument/2006/relationships/notesSlide" Target="/ppt/notesSlides/notesSlide3.xml" Id="R8d25f818a42549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fb75531d8465f" /><Relationship Type="http://schemas.openxmlformats.org/officeDocument/2006/relationships/notesSlide" Target="/ppt/notesSlides/notesSlide4.xml" Id="Ra932e3096edf4be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74A9CF"/>
            </a:solidFill>
          </c:spPr>
          <c:cat>
            <c:strLit>
              <c:ptCount val="6"/>
              <c:pt idx="0">
                <c:v>Entry</c:v>
              </c:pt>
              <c:pt idx="1">
                <c:v>Year 1</c:v>
              </c:pt>
              <c:pt idx="2">
                <c:v>Year 2</c:v>
              </c:pt>
              <c:pt idx="3">
                <c:v>Year 3</c:v>
              </c:pt>
              <c:pt idx="4">
                <c:v>Year 4</c:v>
              </c:pt>
              <c:pt idx="5">
                <c:v>Year 5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108</c:v>
              </c:pt>
              <c:pt idx="2">
                <c:v>116.6</c:v>
              </c:pt>
              <c:pt idx="3">
                <c:v>126</c:v>
              </c:pt>
              <c:pt idx="4">
                <c:v>136</c:v>
              </c:pt>
              <c:pt idx="5">
                <c:v>146.9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17365D"/>
            </a:solidFill>
          </c:spPr>
          <c:cat>
            <c:strLit>
              <c:ptCount val="6"/>
              <c:pt idx="0">
                <c:v>Entry</c:v>
              </c:pt>
              <c:pt idx="1">
                <c:v>Year 1</c:v>
              </c:pt>
              <c:pt idx="2">
                <c:v>Year 2</c:v>
              </c:pt>
              <c:pt idx="3">
                <c:v>Year 3</c:v>
              </c:pt>
              <c:pt idx="4">
                <c:v>Year 4</c:v>
              </c:pt>
              <c:pt idx="5">
                <c:v>Year 5</c:v>
              </c:pt>
            </c:strLit>
          </c:cat>
          <c:val>
            <c:numLit>
              <c:formatCode>General</c:formatCode>
              <c:ptCount val="6"/>
              <c:pt idx="0">
                <c:v>25</c:v>
              </c:pt>
              <c:pt idx="1">
                <c:v>27</c:v>
              </c:pt>
              <c:pt idx="2">
                <c:v>29.2</c:v>
              </c:pt>
              <c:pt idx="3">
                <c:v>31.5</c:v>
              </c:pt>
              <c:pt idx="4">
                <c:v>34</c:v>
              </c:pt>
              <c:pt idx="5">
                <c:v>36.7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0158B-866A-4652-A30C-479EAA4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9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6D582-3791-41FD-A652-2AF30D86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Northstar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2A8E6-954F-43CC-BCE3-B80E7869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CE7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CE7F3"/>
                </a:solidFill>
                <a:latin typeface="Helvetica Neue"/>
                <a:ea typeface="Helvetica Neue"/>
                <a:cs typeface="Helvetica Neue"/>
              </a:rPr>
              <a:t>Investment Committee Discussion Materials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E6481-C022-47AB-A5B3-5B4FA8D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9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9DC"/>
                </a:solidFill>
                <a:latin typeface="Helvetica Neue"/>
                <a:ea typeface="Helvetica Neue"/>
                <a:cs typeface="Helvetica Neue"/>
              </a:rPr>
              <a:t>Illustrative certification fixture  |  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64356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A3481-B2C7-4224-A82A-01CDF490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EACAD-7622-4021-A7A2-DC08936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Transaction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AA293-894D-4B3C-8AD5-3382E7F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43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66070"/>
                </a:solidFill>
                <a:latin typeface="Helvetica Neue"/>
                <a:ea typeface="Helvetica Neue"/>
                <a:cs typeface="Helvetica Neue"/>
              </a:rPr>
              <a:t>Synthetic operating and valuation 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EE471-BD2F-40B5-90BA-B443622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Entry 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FE199-9B82-492C-945B-EB5DC47F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$200m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2BF28-49DF-4402-BC5E-92F8F2D7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37C48-DEF4-41B1-B07E-09E7B5E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52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Entry EBITDA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8E6C1-21D5-46E7-AB66-1ACD870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$25m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8BE49-CED8-46E4-9F8A-DC0EEE9A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782F7-D1CD-43FB-AB12-F7B6FDDE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Entry leverage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918A5-EEF0-4C96-A95F-A0D5A342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5.0x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D0EF4-8DFB-4BD1-935B-F97249C7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5F5AA-04D2-4694-BED8-7817E09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Sponsor equity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BDF3F-9CCA-4109-9410-C05D1667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$75m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77F3A-2C99-485D-9E80-24D9B36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C05A3-4F0F-41D6-87F1-2A098E3C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0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044"/>
                </a:solidFill>
                <a:latin typeface="Helvetica Neue"/>
                <a:ea typeface="Helvetica Neue"/>
                <a:cs typeface="Helvetica Neue"/>
              </a:rPr>
              <a:t>The base case assumes revenue growth of 8.0%, a stable 25.0% EBITDA margin, and 60.0% cash conversion. The model applies no acquisition synergies and no multiple expansion during the hold period.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FD756-B402-427E-84D9-4C0CBC9A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77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07783"/>
                </a:solidFill>
                <a:latin typeface="Helvetica Neue"/>
                <a:ea typeface="Helvetica Neue"/>
                <a:cs typeface="Helvetica Neue"/>
              </a:rPr>
              <a:t>Figures are illustrative and do not represent an actual investment opportunity.</a:t>
            </a:r>
          </a:p>
        </p:txBody>
      </p:sp>
    </p:spTree>
    <p:extLst>
      <p:ext uri="{BB962C8B-B14F-4D97-AF65-F5344CB8AC3E}">
        <p14:creationId xmlns:p14="http://schemas.microsoft.com/office/powerpoint/2010/main" val="970114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E6C7B-2E4A-4623-8792-4EB88725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84FB6-F632-413D-8F01-29600E45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Operating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2B072-A0DD-4E99-930B-A185EE5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43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66070"/>
                </a:solidFill>
                <a:latin typeface="Helvetica Neue"/>
                <a:ea typeface="Helvetica Neue"/>
                <a:cs typeface="Helvetica Neue"/>
              </a:rPr>
              <a:t>Revenue and EBITDA growth over the five-year hold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80975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28b70a0b524a9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E1B6D-626B-4FCB-9F40-D628DB4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38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8.0%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D7391-2FAC-474C-9DFD-AAE92F7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289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Revenue CAGR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49402-6183-43C3-B22E-D16A697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$36.7m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49B6F-C500-4989-B9F2-1A3B2FE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91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Year 5 EBITDA</a:t>
            </a:r>
          </a:p>
        </p:txBody>
      </p:sp>
    </p:spTree>
    <p:extLst>
      <p:ext uri="{BB962C8B-B14F-4D97-AF65-F5344CB8AC3E}">
        <p14:creationId xmlns:p14="http://schemas.microsoft.com/office/powerpoint/2010/main" val="2102057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90B21-5E4C-4D8F-8328-28AA2BE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A8BE1-D0E9-4615-95DA-A3B1BD6F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Principal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98452-6457-4325-B801-98213E5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43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66070"/>
                </a:solidFill>
                <a:latin typeface="Helvetica Neue"/>
                <a:ea typeface="Helvetica Neue"/>
                <a:cs typeface="Helvetica Neue"/>
              </a:rPr>
              <a:t>Questions requiring resolution before any investment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9481-252D-4036-8F6E-743F57B6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857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3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20632-17A0-4B59-944F-E1D5991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478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Customer concentration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04AED-A824-4E6C-BAB4-9E5793D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764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58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D5868"/>
                </a:solidFill>
                <a:latin typeface="Helvetica Neue"/>
                <a:ea typeface="Helvetica Neue"/>
                <a:cs typeface="Helvetica Neue"/>
              </a:rPr>
              <a:t>Top-customer exposure has not been provided in this synthetic fixture.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52D71-10DA-4301-9F23-5CFA680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857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01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7C5CA-C09F-4B49-BD7A-AD6B6839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Margin durability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AE6DD-7DE3-42DF-8164-6BBC7F62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58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D5868"/>
                </a:solidFill>
                <a:latin typeface="Helvetica Neue"/>
                <a:ea typeface="Helvetica Neue"/>
                <a:cs typeface="Helvetica Neue"/>
              </a:rPr>
              <a:t>The base case holds margin flat; price, mix, and labor sensitivity remain untested.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B7114-0759-4D08-AA22-78D8F5FA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857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0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BD815-50AA-4965-A2A2-82F9D61A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Exit 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6816B-1CAC-4E1F-BCA3-EE5EB8AD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577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58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D5868"/>
                </a:solidFill>
                <a:latin typeface="Helvetica Neue"/>
                <a:ea typeface="Helvetica Neue"/>
                <a:cs typeface="Helvetica Neue"/>
              </a:rPr>
              <a:t>Returns remain sensitive to the assumed exit multiple and provider-calculated debt balance.</a:t>
            </a:r>
          </a:p>
        </p:txBody>
      </p:sp>
    </p:spTree>
    <p:extLst>
      <p:ext uri="{BB962C8B-B14F-4D97-AF65-F5344CB8AC3E}">
        <p14:creationId xmlns:p14="http://schemas.microsoft.com/office/powerpoint/2010/main" val="718394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2026-09-08T18:25:08.5440000Z</dcterms:created>
  <dcterms:modified xsi:type="dcterms:W3CDTF">2026-09-08T18:25:08.5440000Z</dcterms:modified>
</coreProperties>
</file>